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09560" y="731520"/>
            <a:ext cx="3566160" cy="5303520"/>
          </a:xfrm>
          <a:prstGeom prst="roundRect">
            <a:avLst/>
          </a:prstGeom>
          <a:solidFill>
            <a:srgbClr val="0F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75320" y="1234440"/>
            <a:ext cx="201168" cy="201168"/>
          </a:xfrm>
          <a:prstGeom prst="roundRect">
            <a:avLst/>
          </a:prstGeom>
          <a:solidFill>
            <a:srgbClr val="32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9096" y="1737360"/>
            <a:ext cx="201168" cy="201168"/>
          </a:xfrm>
          <a:prstGeom prst="roundRect">
            <a:avLst/>
          </a:prstGeom>
          <a:solidFill>
            <a:srgbClr val="BEF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62872" y="2240280"/>
            <a:ext cx="201168" cy="201168"/>
          </a:xfrm>
          <a:prstGeom prst="roundRect">
            <a:avLst/>
          </a:prstGeom>
          <a:solidFill>
            <a:srgbClr val="32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56648" y="2743200"/>
            <a:ext cx="201168" cy="201168"/>
          </a:xfrm>
          <a:prstGeom prst="roundRect">
            <a:avLst/>
          </a:prstGeom>
          <a:solidFill>
            <a:srgbClr val="BEF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50424" y="3246120"/>
            <a:ext cx="201168" cy="201168"/>
          </a:xfrm>
          <a:prstGeom prst="roundRect">
            <a:avLst/>
          </a:prstGeom>
          <a:solidFill>
            <a:srgbClr val="32D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HACKATHON SOLUTION • END-TO-END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676656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4F8F6"/>
                </a:solidFill>
                <a:latin typeface="Aptos"/>
              </a:defRPr>
            </a:pPr>
            <a:r>
              <a:t>GREEN LOGISTICS</a:t>
            </a:r>
            <a:br/>
            <a:r>
              <a:t>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61264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BEF073"/>
                </a:solidFill>
                <a:latin typeface="Aptos"/>
              </a:defRPr>
            </a:pPr>
            <a:r>
              <a:t>Move smarter. Emit 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608076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B1C6CA"/>
                </a:solidFill>
                <a:latin typeface="Aptos"/>
              </a:defRPr>
            </a:pPr>
            <a:r>
              <a:t>A data-driven solution to reduce avoidable kilometres, fuel consumption, delivery cost and estimated CO₂ emissions—without compromising service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SOLUTION DECK  |  SAMPLE-DATA DEMO  | 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4F8F6"/>
                </a:solidFill>
                <a:latin typeface="Aptos"/>
              </a:defRPr>
            </a:pPr>
            <a:r>
              <a:t>DATA  → 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251960"/>
            <a:ext cx="29260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BEF073"/>
                </a:solidFill>
                <a:latin typeface="Aptos"/>
              </a:defRPr>
            </a:pPr>
            <a:r>
              <a:t>LESS WASTE</a:t>
            </a:r>
            <a:br/>
            <a:r>
              <a:t>BETTER MOVEMENT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01 •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One platform. Five practical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Convert shipment records into prioritized, explainable sustainability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14884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1"/>
            <a:ext cx="18196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01 •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18196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Logistics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69464"/>
            <a:ext cx="181965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CSV with trips, distance, vehicle capacity, load, fuel, packaging and delivery windows.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37360"/>
            <a:ext cx="214884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856231"/>
            <a:ext cx="18196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02 •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121408"/>
            <a:ext cx="18196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Trust the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569464"/>
            <a:ext cx="181965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Detect missing fields, duplicate IDs, invalid units, negative values and over-capacity 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737360"/>
            <a:ext cx="214884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1856231"/>
            <a:ext cx="18196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03 •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21408"/>
            <a:ext cx="18196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Establish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69464"/>
            <a:ext cx="181965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Calculate fuel, estimated CO₂, kilometres, load utilization and packaging intensity.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737360"/>
            <a:ext cx="192024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1"/>
            <a:ext cx="15910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B552"/>
                </a:solidFill>
                <a:latin typeface="Aptos"/>
              </a:defRPr>
            </a:pPr>
            <a:r>
              <a:t>04 • 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121408"/>
            <a:ext cx="15910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Find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569464"/>
            <a:ext cx="159105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Flag compatible loads, route outliers and excess packaging.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737360"/>
            <a:ext cx="205740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1856231"/>
            <a:ext cx="17282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05 • 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121408"/>
            <a:ext cx="17282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Compare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569464"/>
            <a:ext cx="172821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Show assumptions, estimated savings and service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77639"/>
            <a:ext cx="10881360" cy="1417320"/>
          </a:xfrm>
          <a:prstGeom prst="roundRect">
            <a:avLst/>
          </a:prstGeom>
          <a:solidFill>
            <a:srgbClr val="10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4F8F6"/>
                </a:solidFill>
                <a:latin typeface="Aptos"/>
              </a:defRPr>
            </a:pPr>
            <a:r>
              <a:t>CORE OUTPUT: a ranked recommendation list + measurable baseline + transparent before/after estimate.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Design principle: optimize only when capacity, compatibility, safety and delivery time windows remain feasible.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02 • WHY CHANGE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The problem is avoidable waste—not delivery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Traditional planning can optimize individual shipments while missing network-level inefficiency.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B552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Empty kilometres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309981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Detours, repeated journeys and vehicles running with unused capacity increase fuel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Fragmented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23744"/>
            <a:ext cx="309981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Nearby orders may be dispatched separately; waiting and poor sequencing can reduce productivity.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PACKAGING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Material intensity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23744"/>
            <a:ext cx="309981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Oversized cartons and single-use packaging increase material use, handling and waste.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6070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4F8F6"/>
                </a:solidFill>
                <a:latin typeface="Aptos"/>
              </a:defRPr>
            </a:pPr>
            <a:r>
              <a:t>The solution must balance four outcomes: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2514600" cy="8686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23317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32D28B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2331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fuel + operating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709160"/>
            <a:ext cx="2514600" cy="8686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828032"/>
            <a:ext cx="23317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BEF073"/>
                </a:solidFill>
                <a:latin typeface="Aptos"/>
              </a:defRPr>
            </a:pPr>
            <a:r>
              <a:t>CARBON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20640"/>
            <a:ext cx="2331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estimated CO₂e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09160"/>
            <a:ext cx="2514600" cy="8686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28032"/>
            <a:ext cx="23317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8B7E2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20640"/>
            <a:ext cx="2331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on-time 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4709160"/>
            <a:ext cx="2514600" cy="8686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828032"/>
            <a:ext cx="23317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B552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120640"/>
            <a:ext cx="2331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capacity +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03 •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From raw records to an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Each stage has a clear input, process and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CSV / spreadsheet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Shipment and vehicle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1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1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Quality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Clean, auditable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Metric calculations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Baseline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Feasibility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Candidate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3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3608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Impact + constraints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Prioritized 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6060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1828800"/>
            <a:ext cx="1719072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1993392"/>
            <a:ext cx="1444752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32D2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007" y="2450592"/>
            <a:ext cx="149961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4F8F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7" y="2852928"/>
            <a:ext cx="1499616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1">
                <a:solidFill>
                  <a:srgbClr val="BEF073"/>
                </a:solidFill>
                <a:latin typeface="Aptos"/>
              </a:defRPr>
            </a:pPr>
            <a:r>
              <a:t>Scenario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7" y="3273552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000" b="0">
                <a:solidFill>
                  <a:srgbClr val="B1C6CA"/>
                </a:solidFill>
                <a:latin typeface="Aptos"/>
              </a:defRPr>
            </a:pPr>
            <a:r>
              <a:t>Estimated change 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10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645152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F4F8F6"/>
                </a:solidFill>
                <a:latin typeface="Aptos"/>
              </a:defRPr>
            </a:pPr>
            <a:r>
              <a:t>Human review before execution • no route/load change is automatically 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04 • 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Start with a small, structured shipment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A beginner-friendly CSV keeps the prototype reproducible and easy to judge.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834640" cy="484632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746504"/>
            <a:ext cx="268833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743200" cy="484632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746504"/>
            <a:ext cx="25968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486400" cy="484632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746504"/>
            <a:ext cx="5340096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30552"/>
            <a:ext cx="283464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2221992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shipment_id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30552"/>
            <a:ext cx="27432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221992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S001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30552"/>
            <a:ext cx="54864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221992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Traceability; duplicate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15184"/>
            <a:ext cx="283464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2706624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origin / destination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615184"/>
            <a:ext cx="27432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2706624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Warehouse A / Tiruppur North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15184"/>
            <a:ext cx="54864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706624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Grouping nearby or compatible deliveries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99816"/>
            <a:ext cx="283464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3191256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distance_km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099816"/>
            <a:ext cx="27432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3191256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99816"/>
            <a:ext cx="54864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3191256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Distance baseline and route outlier flags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84448"/>
            <a:ext cx="283464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675887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vehicle_capacity_kg / load_kg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584448"/>
            <a:ext cx="27432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675887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1,000 / 720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584448"/>
            <a:ext cx="54864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675887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Capacity checks and load utilization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069080"/>
            <a:ext cx="283464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4160520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fuel_litres / fuel_type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069080"/>
            <a:ext cx="27432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4160520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7.2 / diesel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069080"/>
            <a:ext cx="54864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60520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Fuel and CO₂ estimate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53712"/>
            <a:ext cx="283464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1" y="4645152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packaging_kg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4553712"/>
            <a:ext cx="27432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47872" y="4645152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4.0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553712"/>
            <a:ext cx="5486400" cy="484632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4645152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Packaging intensity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038344"/>
            <a:ext cx="283464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1" y="5129783"/>
            <a:ext cx="268833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delivery_window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038344"/>
            <a:ext cx="27432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47872" y="5129783"/>
            <a:ext cx="25968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038344"/>
            <a:ext cx="5486400" cy="484632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129783"/>
            <a:ext cx="5340096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Feasibility; avoid late deliveries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623560"/>
            <a:ext cx="107899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FFB552"/>
                </a:solidFill>
                <a:latin typeface="Aptos"/>
              </a:defRPr>
            </a:pPr>
            <a:r>
              <a:t>Validation: required columns • numeric types • consistent units • unique IDs • non-negative values • load ≤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05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Bad inputs create misleading green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The app should flag problems before calculating KPIs.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6459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7070"/>
                </a:solidFill>
                <a:latin typeface="Aptos"/>
              </a:defRPr>
            </a:pPr>
            <a:r>
              <a:t>CHECK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Missing / duplicate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3099816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Stop or flag rows with missing required fields and duplicate shipment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6459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B552"/>
                </a:solidFill>
                <a:latin typeface="Aptos"/>
              </a:defRPr>
            </a:pPr>
            <a:r>
              <a:t>CHECK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Impossible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23744"/>
            <a:ext cx="3099816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Reject negative distances, fuel or packaging; capacity must be greater than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6459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CHECK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Operational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23744"/>
            <a:ext cx="3099816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Flag load above capacity; never treat an infeasible plan as an optimization.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98480" cy="11887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1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2D28B"/>
                </a:solidFill>
                <a:latin typeface="Aptos"/>
              </a:defRPr>
            </a:pPr>
            <a:r>
              <a:t>Recommended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07408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F4F8F6"/>
                </a:solidFill>
                <a:latin typeface="Aptos"/>
              </a:defRPr>
            </a:pPr>
            <a:r>
              <a:t>Show the issue, affected row, correction needed and whether the metric is safe to calculate.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Judge-ready line: “We validate first so that sustainability metrics are explainable, reproducible and not built on bad data.”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06 • IMPACT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Use simple formulas judges can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Always label estimates and document the factor and data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31912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METRIC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75688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CO₂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523744"/>
            <a:ext cx="319125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CO₂ (kg) = fuel used (litres) × documented emission factor (kg CO₂/litre).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10512"/>
            <a:ext cx="31912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METRIC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075688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Load 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523744"/>
            <a:ext cx="319125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Load utilization (%) = load weight ÷ vehicle capacity × 100.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74519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10512"/>
            <a:ext cx="319125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METRIC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8"/>
            <a:ext cx="319125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Packaging intensity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523744"/>
            <a:ext cx="3191256" cy="9601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Packaging per shipment = total packaging mass ÷ shipment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10698480" cy="1325880"/>
          </a:xfrm>
          <a:prstGeom prst="roundRect">
            <a:avLst/>
          </a:prstGeom>
          <a:solidFill>
            <a:srgbClr val="32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FB552"/>
                </a:solidFill>
                <a:latin typeface="Aptos"/>
              </a:defRPr>
            </a:pPr>
            <a:r>
              <a:t>Do not overclaim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F4F8F6"/>
                </a:solidFill>
                <a:latin typeface="Aptos"/>
              </a:defRPr>
            </a:pPr>
            <a:r>
              <a:t>Fuel-based estimates may omit upstream emissions and real-world conditions. Use a suitable region/fuel factor and validate against measured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Track cost, distance, on-time delivery and emissions together—not carbon in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07 •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Three rule-based improvements for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Transparent rules first; advanced route solvers can be added after data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214884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RULE A •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Route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3099816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Flag trips whose distance is unusually high against a comparable baseline. Review route sequence and detours using a mapping source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214884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RULE B •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Consolidation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23744"/>
            <a:ext cx="3099816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Look for nearby destinations with compatible delivery windows. Combine only if combined weight/volume fits and deadlines remain feasible.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214884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RULE C • PACKAGING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Right-size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23744"/>
            <a:ext cx="3099816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Flag high packaging per shipment. Test right-sized cartons, reusable totes and recyclable materials with protection and customer needs preserved.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0698480" cy="1005840"/>
          </a:xfrm>
          <a:prstGeom prst="roundRect">
            <a:avLst/>
          </a:prstGeom>
          <a:solidFill>
            <a:srgbClr val="32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FFB552"/>
                </a:solidFill>
                <a:latin typeface="Aptos"/>
              </a:defRPr>
            </a:pPr>
            <a:r>
              <a:t>Hard constraints: capacity • delivery deadlines • customer compatibility • food/product safety • driver rules • service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MVP flags opportunities; it does not claim to compute globally optimal routes without map, traffic and routing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08 • RECOMMENDATION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Make each recommendation actionable and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A good recommendation says what to do, why, expected impact and what could block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371600" cy="658368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920240"/>
            <a:ext cx="122529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737360"/>
            <a:ext cx="2743200" cy="658368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920240"/>
            <a:ext cx="259689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DETECTED ISSUE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37360"/>
            <a:ext cx="4572000" cy="658368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920240"/>
            <a:ext cx="442569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737360"/>
            <a:ext cx="2377440" cy="658368"/>
          </a:xfrm>
          <a:prstGeom prst="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920240"/>
            <a:ext cx="2231136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95728"/>
            <a:ext cx="13716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505456"/>
            <a:ext cx="12252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FB552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395728"/>
            <a:ext cx="27432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505456"/>
            <a:ext cx="25968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Low vehicle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95728"/>
            <a:ext cx="45720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2505456"/>
            <a:ext cx="44256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Check suitable vehicle / compatible nearby 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395728"/>
            <a:ext cx="237744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2505456"/>
            <a:ext cx="223113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Load %, trips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54096"/>
            <a:ext cx="13716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3163824"/>
            <a:ext cx="12252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FB552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054096"/>
            <a:ext cx="27432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3163824"/>
            <a:ext cx="25968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Nearby orders on separate trips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054096"/>
            <a:ext cx="45720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3163824"/>
            <a:ext cx="44256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Consolidate only if windows + capacity permit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054096"/>
            <a:ext cx="237744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3163824"/>
            <a:ext cx="223113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Trips, km, CO₂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12464"/>
            <a:ext cx="13716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822192"/>
            <a:ext cx="12252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712464"/>
            <a:ext cx="27432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822192"/>
            <a:ext cx="25968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Distance unusually 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712464"/>
            <a:ext cx="457200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3822192"/>
            <a:ext cx="44256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Review route and dispatch 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712464"/>
            <a:ext cx="2377440" cy="658368"/>
          </a:xfrm>
          <a:prstGeom prst="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822192"/>
            <a:ext cx="223113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km, fuel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370831"/>
            <a:ext cx="13716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480559"/>
            <a:ext cx="12252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F8F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4370831"/>
            <a:ext cx="27432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4480559"/>
            <a:ext cx="25968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High packaging per 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370831"/>
            <a:ext cx="457200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2" y="4480559"/>
            <a:ext cx="442569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F4F8F6"/>
                </a:solidFill>
                <a:latin typeface="Aptos"/>
              </a:defRPr>
            </a:pPr>
            <a:r>
              <a:t>Right-size packaging / trial reuse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70831"/>
            <a:ext cx="2377440" cy="658368"/>
          </a:xfrm>
          <a:prstGeom prst="rect">
            <a:avLst/>
          </a:prstGeom>
          <a:solidFill>
            <a:srgbClr val="0F2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4480559"/>
            <a:ext cx="2231136" cy="42062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kg packaging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257800"/>
            <a:ext cx="10698480" cy="59436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04104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Rank by expected impact × confidence × feasibility; send uncertain or high-risk actions for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09 • EXAMPLE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A 10% reduction scenario—illustrative, not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Use this arithmetic to demonstrate the dashboard; replace it with actual pilot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29000" cy="24688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32D28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4F8F6"/>
                </a:solidFill>
                <a:latin typeface="Aptos"/>
              </a:defRPr>
            </a:pPr>
            <a:r>
              <a:t>1,000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30632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4F8F6"/>
                </a:solidFill>
                <a:latin typeface="Aptos"/>
              </a:defRPr>
            </a:pPr>
            <a:r>
              <a:t>300 L fuel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67328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32D28B"/>
                </a:solidFill>
                <a:latin typeface="Aptos"/>
              </a:defRPr>
            </a:pPr>
            <a:r>
              <a:t>804 kg CO₂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3429000" cy="246888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057400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58B7E2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4F8F6"/>
                </a:solidFill>
                <a:latin typeface="Aptos"/>
              </a:defRPr>
            </a:pPr>
            <a:r>
              <a:t>900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30632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4F8F6"/>
                </a:solidFill>
                <a:latin typeface="Aptos"/>
              </a:defRPr>
            </a:pPr>
            <a:r>
              <a:t>270 L fuel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67328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58B7E2"/>
                </a:solidFill>
                <a:latin typeface="Aptos"/>
              </a:defRPr>
            </a:pPr>
            <a:r>
              <a:t>724 kg CO₂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828800"/>
            <a:ext cx="3429000" cy="2468880"/>
          </a:xfrm>
          <a:prstGeom prst="roundRect">
            <a:avLst/>
          </a:prstGeom>
          <a:solidFill>
            <a:srgbClr val="10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057400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BEF073"/>
                </a:solidFill>
                <a:latin typeface="Aptos"/>
              </a:defRPr>
            </a:pPr>
            <a:r>
              <a:t>ESTIMATED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651760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4F8F6"/>
                </a:solidFill>
                <a:latin typeface="Aptos"/>
              </a:defRPr>
            </a:pPr>
            <a:r>
              <a:t>−10%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246120"/>
            <a:ext cx="30632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4F8F6"/>
                </a:solidFill>
                <a:latin typeface="Aptos"/>
              </a:defRPr>
            </a:pPr>
            <a:r>
              <a:t>−10% fuel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767328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BEF073"/>
                </a:solidFill>
                <a:latin typeface="Aptos"/>
              </a:defRPr>
            </a:pPr>
            <a:r>
              <a:t>~−10% CO₂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10652760" cy="868680"/>
          </a:xfrm>
          <a:prstGeom prst="roundRect">
            <a:avLst/>
          </a:prstGeom>
          <a:solidFill>
            <a:srgbClr val="32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56048"/>
            <a:ext cx="102870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FB552"/>
                </a:solidFill>
                <a:latin typeface="Aptos"/>
              </a:defRPr>
            </a:pPr>
            <a:r>
              <a:t>Assumptions: same fuel type and constant factor; 300 L × 2.68 = 804 kg; 270 L × 2.68 = 723.6 kg ≈ 724 kg.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0">
                <a:solidFill>
                  <a:srgbClr val="B1C6CA"/>
                </a:solidFill>
                <a:latin typeface="Aptos"/>
              </a:defRPr>
            </a:pPr>
            <a:r>
              <a:t>These are scenario values for the presentation, not real company results or guaranteed savings.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10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A beginner-friendly, reproducible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The MVP can run locally without paid cloud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CSV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606040"/>
            <a:ext cx="23774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BEF0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2606040"/>
            <a:ext cx="23774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BEF0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3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3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Formula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06040"/>
            <a:ext cx="23774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BEF0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5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5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Feasibility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5" y="2606040"/>
            <a:ext cx="23774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BEF0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606040"/>
            <a:ext cx="237744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BEF0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057400"/>
            <a:ext cx="1700784" cy="141732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9" y="2331720"/>
            <a:ext cx="1517904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2743200"/>
            <a:ext cx="1517904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4F8F6"/>
                </a:solidFill>
                <a:latin typeface="Aptos"/>
              </a:defRPr>
            </a:pPr>
            <a:r>
              <a:t>CSV +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14800"/>
            <a:ext cx="10424160" cy="123444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Keep sample data, assumptions, code and outputs together for repeatability.</a:t>
            </a:r>
          </a:p>
          <a:p>
            <a:pPr>
              <a:spcAft>
                <a:spcPts val="4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Add tests for duplicates, missing values, zero capacity, overload and unknown fuel type.</a:t>
            </a:r>
          </a:p>
          <a:p>
            <a:pPr>
              <a:spcAft>
                <a:spcPts val="4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Protect customer information; use synthetic/anonymized data in the hackathon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11 •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A clear 2–3 minute judge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Show the problem, run the system, explain the result and state limitations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0:00–0:20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45920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45920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“Delivery efficiency affects cost, fuel and emissions.”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86584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0:20–0:45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13432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Upload +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13432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Load sample CSV; show missing/duplicate/overload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35224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0:45–1:15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80944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80944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Explain km, fuel, estimated CO₂ and load utilization.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02736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21608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1:15–1:45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48456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648456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Show high-priority low-load and packaging flags.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70248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1:45–2:15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15968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15968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Change savings assumptions; compare baseline with scenario.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1417320" cy="502920"/>
          </a:xfrm>
          <a:prstGeom prst="roundRect">
            <a:avLst/>
          </a:prstGeom>
          <a:solidFill>
            <a:srgbClr val="17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56632"/>
            <a:ext cx="123444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100" b="1">
                <a:solidFill>
                  <a:srgbClr val="32D28B"/>
                </a:solidFill>
                <a:latin typeface="Aptos"/>
              </a:defRPr>
            </a:pPr>
            <a:r>
              <a:t>2:15–2:40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983480"/>
            <a:ext cx="21031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4F8F6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983480"/>
            <a:ext cx="690372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Explain constraints, limitations and pilot validation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12 • HOW WE PROVE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Evaluate both environmental and service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A green recommendation is useful only if it is feasible and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6002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Distance + fuel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3099816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Compare total km and litres for the same order set and service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6002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Estimated CO₂e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23744"/>
            <a:ext cx="3099816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Use documented factors and show uncertainty/assumptions.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6002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On-time +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23744"/>
            <a:ext cx="3099816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Track on-time rate, capacity violations and customer-impact issues.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98480" cy="123444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32D28B"/>
                </a:solidFill>
                <a:latin typeface="Aptos"/>
              </a:defRPr>
            </a:pPr>
            <a:r>
              <a:t>Pilot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F4F8F6"/>
                </a:solidFill>
                <a:latin typeface="Aptos"/>
              </a:defRPr>
            </a:pPr>
            <a:r>
              <a:t>Compare baseline and optimized plan on the same shipments, dates and service constraints; record actual outcomes and explain differences.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FFB552"/>
                </a:solidFill>
                <a:latin typeface="Aptos"/>
              </a:defRPr>
            </a:pPr>
            <a:r>
              <a:t>Success = correct calculations + useful actions + no capacity/time-window violations + repeatable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13 • DELIVERY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Build a credible MVP first; scale after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A phased plan helps the team deliver a working demo instead of overpromising.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305409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32D28B"/>
                </a:solidFill>
                <a:latin typeface="Aptos"/>
              </a:defRPr>
            </a:pPr>
            <a:r>
              <a:t>PHASE 1 •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67128"/>
            <a:ext cx="30540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15184"/>
            <a:ext cx="3054096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CSV upload, data checks, distance/fuel/CO₂/load metrics, sample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83280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305409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PHASE 2 • SMARTER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0540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15184"/>
            <a:ext cx="3054096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Rule engine, priority ranking, scenario sliders, downloadable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383280" cy="20574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01952"/>
            <a:ext cx="305409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BEF073"/>
                </a:solidFill>
                <a:latin typeface="Aptos"/>
              </a:defRPr>
            </a:pPr>
            <a:r>
              <a:t>PHASE 3 •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67128"/>
            <a:ext cx="305409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15184"/>
            <a:ext cx="3054096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Real route data, verified factors, actual before/after comparison and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10607040" cy="868680"/>
          </a:xfrm>
          <a:prstGeom prst="roundRect">
            <a:avLst/>
          </a:prstGeom>
          <a:solidFill>
            <a:srgbClr val="10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F4F8F6"/>
                </a:solidFill>
                <a:latin typeface="Aptos"/>
              </a:defRPr>
            </a:pPr>
            <a:r>
              <a:t>Future upgrade: connect mapping/routing APIs and a solver for time-window-aware vehicle routing.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14 • RISKS AND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4F8F6"/>
                </a:solidFill>
                <a:latin typeface="Aptos"/>
              </a:defRPr>
            </a:pPr>
            <a:r>
              <a:t>Trust is part of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The prototype is designed to make assumptions visible rather than hide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114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BEF0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7070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Poor or incomplete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23744"/>
            <a:ext cx="309981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Safeguard: validation report, required fields, clear units and manual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FB552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False savings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23744"/>
            <a:ext cx="309981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Safeguard: label scenario assumptions; use measured pilot results for final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828800"/>
          </a:xfrm>
          <a:prstGeom prst="roundRect">
            <a:avLst/>
          </a:prstGeom>
          <a:solidFill>
            <a:srgbClr val="13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810512"/>
            <a:ext cx="3099816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58B7E2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75688"/>
            <a:ext cx="3099816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4F8F6"/>
                </a:solidFill>
                <a:latin typeface="Aptos"/>
              </a:defRPr>
            </a:pPr>
            <a:r>
              <a:t>Service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23744"/>
            <a:ext cx="3099816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1C6CA"/>
                </a:solidFill>
                <a:latin typeface="Aptos"/>
              </a:defRPr>
            </a:pPr>
            <a:r>
              <a:t>Safeguard: hard constraints for capacity, safety, compatibility and deadlines.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32D28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332720" cy="100584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No live traffic or map-based route calculation in the MVP.</a:t>
            </a:r>
          </a:p>
          <a:p>
            <a:pPr>
              <a:spcAft>
                <a:spcPts val="3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CO₂ is an estimate based on fuel data and a selected factor.</a:t>
            </a:r>
          </a:p>
          <a:p>
            <a:pPr>
              <a:spcAft>
                <a:spcPts val="300"/>
              </a:spcAft>
              <a:defRPr sz="1200">
                <a:solidFill>
                  <a:srgbClr val="B1C6CA"/>
                </a:solidFill>
                <a:latin typeface="Aptos"/>
              </a:defRPr>
            </a:pPr>
            <a:r>
              <a:t>•  Recommendations are decision support; a dispatcher approves any operational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943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32D28B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046720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200" b="1">
                <a:solidFill>
                  <a:srgbClr val="F4F8F6"/>
                </a:solidFill>
                <a:latin typeface="Aptos"/>
              </a:defRPr>
            </a:pPr>
            <a:r>
              <a:t>Less waste.</a:t>
            </a:r>
            <a:br/>
            <a:r>
              <a:t>Smarter movement.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685800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B1C6CA"/>
                </a:solidFill>
                <a:latin typeface="Aptos"/>
              </a:defRPr>
            </a:pPr>
            <a:r>
              <a:t>Green Logistics Optimization turns shipment records into explainable actions that can reduce avoidable distance, fuel use and packaging—while protecting delivery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2971800" cy="4389120"/>
          </a:xfrm>
          <a:prstGeom prst="roundRect">
            <a:avLst/>
          </a:prstGeom>
          <a:solidFill>
            <a:srgbClr val="10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508760"/>
            <a:ext cx="2514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32D28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331720"/>
            <a:ext cx="2514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BEF073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154680"/>
            <a:ext cx="2514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58B7E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160520"/>
            <a:ext cx="2514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F4F8F6"/>
                </a:solidFill>
                <a:latin typeface="Aptos"/>
              </a:defRPr>
            </a:pPr>
            <a:r>
              <a:t>THANK YOU</a:t>
            </a:r>
            <a:br/>
            <a: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1323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32D28B"/>
                </a:solidFill>
                <a:latin typeface="Aptos"/>
              </a:defRPr>
            </a:pPr>
            <a:r>
              <a:t>Hackathon prototype • illustrative sample data • pilot validation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